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87"/>
    <p:restoredTop sz="94719"/>
  </p:normalViewPr>
  <p:slideViewPr>
    <p:cSldViewPr snapToGrid="0">
      <p:cViewPr>
        <p:scale>
          <a:sx n="110" d="100"/>
          <a:sy n="110" d="100"/>
        </p:scale>
        <p:origin x="52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B0A5-2A2D-ABC7-4D07-2FAB8FCB8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08D02-7D4E-C616-3401-77348B155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7C57-D282-F624-D490-8958E4D5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F9BDF-0136-D29B-04D7-1127F175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AAFC1-5E33-A20C-381E-45169B93C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5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EC4C-482F-A7B7-7936-954704D3C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8F7B9-96BE-7D28-609D-592DBABB2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4B40E-E1BC-AA69-FD44-1EE4EDE13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798AF-2807-FAE9-D28B-FFA38A38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2098C-FB5D-C205-FF27-0EA3C803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8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7634-9D28-28FE-D85A-D7B71D64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DB29A-06AC-F856-C6F6-7818C87C2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7B346-367A-A164-7ACA-DE176A35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AA819-956C-B0C9-4C13-445CBD7B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6C795-A3CD-229E-75FF-4F9836FD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5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3F27-F0EE-62D6-283A-12E9436B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4D0AF-6A42-BB79-E3AB-A6D787B44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B012C-6443-8A01-1833-C0CBB7F06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E966F-DAA8-E8CD-F452-C636F43A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8DABC-5CBB-7A32-B7B3-D2691163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FBBC4-2B6A-C005-2E80-BC63507C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6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7B01-4687-AD50-7847-7015258F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4D357-9A99-14ED-5E87-BE58FDBAA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0C65E-59C8-D4EE-C8BD-19C5E3CF0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12B49-7838-6809-CEDA-8F7EB6B0C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51835-099A-6AA4-C302-49772ADFB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13AB7-DD6D-7C4A-F1FF-B9825250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798AE2-E08B-69D5-83BD-6DC67A1A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131E7-C84B-CC2D-684D-226105D4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0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0B40-6A83-78C3-1F4A-0D4D638C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0311B-88CB-600A-7871-E44D1B98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7B787-87EF-82E8-3BCB-115183D9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9F3FD-417C-EB16-9F8A-64A605E5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1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6F0BA-E3EE-5E23-4C50-9E4F1288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FBBE8-2BCF-C24F-6249-F54A219A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60DB0-9BA9-9BF5-953E-ED8423BB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4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904F-4F21-01E6-4D30-1C7024C6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4CD8B-19CF-1A64-D6CB-7D9F8F6D6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29C66-9A27-6556-5A62-1FB46C917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D148D-6907-8312-5561-BE1CD06F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0FD5F-71E3-121B-8813-021B25CB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2B800-9716-F09A-37B3-CDB60B0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6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1106-85D8-BC68-1F61-E64E1756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60F4B3-D67B-9E4D-A95F-7A9BF3141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A9F85-07F3-A38B-BD2F-628671CD4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33BD8-5F56-DF60-E085-52DCC23A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058EF-3427-96CE-2040-759D4958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F3AC2-E7DD-92A4-5D93-44D150B4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8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A3BD-D68E-CFC0-F917-FF805FC0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57D32-03A2-E2D2-70A8-4FE22E6C0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D2F17-17A0-6DF0-65B2-0989325C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A3948-3C43-3031-A9F1-288FEAF7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FC7E2-C2C3-8263-7366-6D057D61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18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093D7-C76B-C021-73B3-CAEBCA78A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0526E-1395-39A3-A33C-2508AE0C0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42C1-85E6-06F4-5B26-5C691A6A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916A6-2EAA-602B-1C01-24BE8EEB0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7324D-20E4-278B-1F23-B5C1BE0F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5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6C936-27EB-7DD2-E4E8-2411F977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DC79D-A144-7C7B-390B-3CA0E21C1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CEF5B-5417-408F-EC55-8B7561FB5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E749E-1E31-4067-B692-3B6771175F75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654B7-5D2A-A215-DFC4-12CCD40F4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61249-2D9C-EBE0-A6F4-010A3F140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5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4D800-D7FC-2CC1-B43B-EA884A66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82E75D-3F47-7234-2B0A-712D8E79DA38}"/>
              </a:ext>
            </a:extLst>
          </p:cNvPr>
          <p:cNvSpPr/>
          <p:nvPr/>
        </p:nvSpPr>
        <p:spPr>
          <a:xfrm>
            <a:off x="6095999" y="1278194"/>
            <a:ext cx="5752800" cy="26842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A9995-8D22-92FC-78F0-F6560035B039}"/>
              </a:ext>
            </a:extLst>
          </p:cNvPr>
          <p:cNvSpPr txBox="1"/>
          <p:nvPr/>
        </p:nvSpPr>
        <p:spPr>
          <a:xfrm>
            <a:off x="137652" y="98323"/>
            <a:ext cx="4011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Team Agreement Canvas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B7BB9-6202-7585-A048-EB3918B66F5A}"/>
              </a:ext>
            </a:extLst>
          </p:cNvPr>
          <p:cNvSpPr txBox="1"/>
          <p:nvPr/>
        </p:nvSpPr>
        <p:spPr>
          <a:xfrm>
            <a:off x="5884608" y="359933"/>
            <a:ext cx="4011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Team Name: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293B2-16C6-88BA-05D8-4600F05743B2}"/>
              </a:ext>
            </a:extLst>
          </p:cNvPr>
          <p:cNvSpPr/>
          <p:nvPr/>
        </p:nvSpPr>
        <p:spPr>
          <a:xfrm>
            <a:off x="8179663" y="292492"/>
            <a:ext cx="3668360" cy="977254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 Green Triangle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CC646-189F-9D9F-6F50-68172CDE3993}"/>
              </a:ext>
            </a:extLst>
          </p:cNvPr>
          <p:cNvSpPr/>
          <p:nvPr/>
        </p:nvSpPr>
        <p:spPr>
          <a:xfrm>
            <a:off x="344129" y="1278194"/>
            <a:ext cx="5751871" cy="26842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9EE964-48D7-56AA-A8E2-92E74EC4FAA4}"/>
              </a:ext>
            </a:extLst>
          </p:cNvPr>
          <p:cNvSpPr/>
          <p:nvPr/>
        </p:nvSpPr>
        <p:spPr>
          <a:xfrm>
            <a:off x="6095999" y="3962400"/>
            <a:ext cx="5752800" cy="26842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1B03E2-BC57-B7C9-2023-A743088DDB70}"/>
              </a:ext>
            </a:extLst>
          </p:cNvPr>
          <p:cNvSpPr/>
          <p:nvPr/>
        </p:nvSpPr>
        <p:spPr>
          <a:xfrm>
            <a:off x="344129" y="3962400"/>
            <a:ext cx="5751871" cy="26842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37634-A855-1D2E-32BD-C27839C87699}"/>
              </a:ext>
            </a:extLst>
          </p:cNvPr>
          <p:cNvSpPr txBox="1"/>
          <p:nvPr/>
        </p:nvSpPr>
        <p:spPr>
          <a:xfrm>
            <a:off x="374417" y="1291049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ROLES &amp; SKILLS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2F084-D18B-DD34-E497-4BF12873660A}"/>
              </a:ext>
            </a:extLst>
          </p:cNvPr>
          <p:cNvSpPr txBox="1"/>
          <p:nvPr/>
        </p:nvSpPr>
        <p:spPr>
          <a:xfrm>
            <a:off x="374421" y="1574798"/>
            <a:ext cx="368218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What roles need fulfilling? What skills do we have within the team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1AF72-98BB-FF7A-21BE-E69123963037}"/>
              </a:ext>
            </a:extLst>
          </p:cNvPr>
          <p:cNvSpPr txBox="1"/>
          <p:nvPr/>
        </p:nvSpPr>
        <p:spPr>
          <a:xfrm>
            <a:off x="6095998" y="1283111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GOALS &amp; OUTCOMES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297820-6648-751B-2617-D54CADC400A8}"/>
              </a:ext>
            </a:extLst>
          </p:cNvPr>
          <p:cNvSpPr txBox="1"/>
          <p:nvPr/>
        </p:nvSpPr>
        <p:spPr>
          <a:xfrm>
            <a:off x="7605705" y="1278194"/>
            <a:ext cx="446830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What do we need to achieve? What does success look like? How will we know we’re done?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E69A1-BA5E-FDDA-4933-F745D37AAFFE}"/>
              </a:ext>
            </a:extLst>
          </p:cNvPr>
          <p:cNvSpPr txBox="1"/>
          <p:nvPr/>
        </p:nvSpPr>
        <p:spPr>
          <a:xfrm>
            <a:off x="478793" y="415434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&amp; NORMS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4EE00-A66F-8E82-928A-B59C753E9452}"/>
              </a:ext>
            </a:extLst>
          </p:cNvPr>
          <p:cNvSpPr txBox="1"/>
          <p:nvPr/>
        </p:nvSpPr>
        <p:spPr>
          <a:xfrm>
            <a:off x="478793" y="4494649"/>
            <a:ext cx="27259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What are our common principles and values for our work together?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F91052-E82E-0822-7279-FD8ADB4258C3}"/>
              </a:ext>
            </a:extLst>
          </p:cNvPr>
          <p:cNvSpPr txBox="1"/>
          <p:nvPr/>
        </p:nvSpPr>
        <p:spPr>
          <a:xfrm>
            <a:off x="7753955" y="4115378"/>
            <a:ext cx="4965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GUIDELINES &amp; EXPECTATIONS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809AEC-50FB-F92C-9E82-4052180FAD43}"/>
              </a:ext>
            </a:extLst>
          </p:cNvPr>
          <p:cNvSpPr txBox="1"/>
          <p:nvPr/>
        </p:nvSpPr>
        <p:spPr>
          <a:xfrm>
            <a:off x="7753955" y="4423364"/>
            <a:ext cx="4075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What are the rules for how we work together? How do we communicate, collaborate, make decisions, continuously, improve, etc.?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E36CDE-C467-C67E-9E74-2177BD7AAD3B}"/>
              </a:ext>
            </a:extLst>
          </p:cNvPr>
          <p:cNvSpPr txBox="1"/>
          <p:nvPr/>
        </p:nvSpPr>
        <p:spPr>
          <a:xfrm>
            <a:off x="7718699" y="1735055"/>
            <a:ext cx="4242318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900" b="1" dirty="0"/>
              <a:t>1. Analyze </a:t>
            </a:r>
            <a:r>
              <a:rPr lang="en-CA" sz="900" b="1" dirty="0" err="1"/>
              <a:t>PlayNow’s</a:t>
            </a:r>
            <a:r>
              <a:rPr lang="en-CA" sz="900" b="1" dirty="0"/>
              <a:t> Competitive Position </a:t>
            </a:r>
            <a:r>
              <a:rPr lang="en-CA" sz="900" dirty="0"/>
              <a:t>– Identify weaknesses and strengths compared to illegal sportsbooks.</a:t>
            </a:r>
          </a:p>
          <a:p>
            <a:r>
              <a:rPr lang="en-CA" sz="900" b="1" dirty="0"/>
              <a:t>2. Recommend Player-Centric Enhancements </a:t>
            </a:r>
            <a:r>
              <a:rPr lang="en-CA" sz="900" dirty="0"/>
              <a:t>– Develop ideas that improve engagement and differentiation.</a:t>
            </a:r>
          </a:p>
          <a:p>
            <a:r>
              <a:rPr lang="en-CA" sz="900" b="1" dirty="0"/>
              <a:t>3. Propose Implementable Strategies </a:t>
            </a:r>
            <a:r>
              <a:rPr lang="en-CA" sz="900" dirty="0"/>
              <a:t>– Ensure recommendations are realistic, impactful, and aligned with BCLC’s objectives.</a:t>
            </a:r>
          </a:p>
          <a:p>
            <a:r>
              <a:rPr lang="en-CA" sz="900" b="1" dirty="0"/>
              <a:t>4. Deliver a Comprehensive Report &amp; Presentation </a:t>
            </a:r>
            <a:r>
              <a:rPr lang="en-CA" sz="900" dirty="0"/>
              <a:t>– A well-supported final proposal that BCLC can act on.</a:t>
            </a:r>
          </a:p>
          <a:p>
            <a:r>
              <a:rPr lang="en-CA" sz="900" b="1" dirty="0"/>
              <a:t>5. Success Metrics: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900" dirty="0"/>
              <a:t>Clear, well-researched recommendations backed by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900" dirty="0"/>
              <a:t>A presentation that effectively communicates our insights.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900" dirty="0"/>
              <a:t>Positive feedback from BCLC, confirming the value of our work.</a:t>
            </a:r>
          </a:p>
          <a:p>
            <a:endParaRPr lang="en-CA" sz="900" dirty="0"/>
          </a:p>
          <a:p>
            <a:r>
              <a:rPr lang="en-CA" sz="900" dirty="0"/>
              <a:t>We are done when we have produced a well-structured report and a compelling final presentation, and BCLC sees practical value in our recommendations.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B6CE6B-F8A5-A455-3705-868D7D58C547}"/>
              </a:ext>
            </a:extLst>
          </p:cNvPr>
          <p:cNvSpPr txBox="1"/>
          <p:nvPr/>
        </p:nvSpPr>
        <p:spPr>
          <a:xfrm>
            <a:off x="7625476" y="4729087"/>
            <a:ext cx="42423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00" b="1" dirty="0"/>
              <a:t>1. Communication: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WhatsApp &amp; Teams for daily check-ins and discussions.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Weekly progress meetings (virtual or in-person).</a:t>
            </a:r>
          </a:p>
          <a:p>
            <a:r>
              <a:rPr lang="en-CA" sz="1000" b="1" dirty="0"/>
              <a:t>2. Decision-Making: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Consensus-based approach – we discuss and vote on key decisions.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The Team Lead for the sprint makes final calls if needed.</a:t>
            </a:r>
          </a:p>
          <a:p>
            <a:r>
              <a:rPr lang="en-CA" sz="1000" b="1" dirty="0"/>
              <a:t>3. Continuous Improvement: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Regular feedback loops to refine ideas.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Open discussions to address concerns and enhance collaboration.</a:t>
            </a:r>
          </a:p>
          <a:p>
            <a:r>
              <a:rPr lang="en-CA" sz="1000" b="1" dirty="0"/>
              <a:t>4. Professionalism: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Respect for deadlines and contributions.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Active participation – everyone is expected to engage meaningfully.</a:t>
            </a:r>
          </a:p>
          <a:p>
            <a:endParaRPr lang="en-CA" sz="1000" b="1" dirty="0"/>
          </a:p>
          <a:p>
            <a:endParaRPr lang="en-CA" sz="1000" b="1" dirty="0"/>
          </a:p>
          <a:p>
            <a:endParaRPr lang="en-CA" sz="1000" b="1" dirty="0"/>
          </a:p>
          <a:p>
            <a:endParaRPr lang="en-CA" sz="1000" b="1" dirty="0"/>
          </a:p>
          <a:p>
            <a:endParaRPr lang="en-CA" sz="1000" b="1" dirty="0"/>
          </a:p>
          <a:p>
            <a:endParaRPr lang="en-CA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68BE55-4446-EB7E-964B-B3141B66DC5F}"/>
              </a:ext>
            </a:extLst>
          </p:cNvPr>
          <p:cNvSpPr txBox="1"/>
          <p:nvPr/>
        </p:nvSpPr>
        <p:spPr>
          <a:xfrm>
            <a:off x="374417" y="2009845"/>
            <a:ext cx="408252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/>
              <a:t>Product Owner (Manuel Chong):</a:t>
            </a:r>
            <a:r>
              <a:rPr lang="en-CA" sz="1000" dirty="0"/>
              <a:t> Prioritizes tasks, aligns work with goals, and communicates with stakeholders.</a:t>
            </a:r>
            <a:br>
              <a:rPr lang="en-CA" sz="1000" dirty="0"/>
            </a:br>
            <a:endParaRPr lang="en-CA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/>
              <a:t>Scrum Master (</a:t>
            </a:r>
            <a:r>
              <a:rPr lang="en-CA" sz="1000" b="1" dirty="0" err="1"/>
              <a:t>Roshnee</a:t>
            </a:r>
            <a:r>
              <a:rPr lang="en-CA" sz="1000" b="1" dirty="0"/>
              <a:t> Jayakumar):</a:t>
            </a:r>
            <a:r>
              <a:rPr lang="en-CA" sz="1000" dirty="0"/>
              <a:t> Facilitates meetings, removes obstacles, and ensures smooth execution.</a:t>
            </a:r>
            <a:br>
              <a:rPr lang="en-CA" sz="1000" dirty="0"/>
            </a:br>
            <a:endParaRPr lang="en-CA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/>
              <a:t>Team Members (</a:t>
            </a:r>
            <a:r>
              <a:rPr lang="en-CA" sz="1000" b="1" dirty="0" err="1"/>
              <a:t>Roshnee</a:t>
            </a:r>
            <a:r>
              <a:rPr lang="en-CA" sz="1000" b="1" dirty="0"/>
              <a:t> Jayakumar, Manuel Chong, Felix </a:t>
            </a:r>
            <a:r>
              <a:rPr lang="en-CA" sz="1000" b="1" dirty="0" err="1"/>
              <a:t>Chibuzo</a:t>
            </a:r>
            <a:r>
              <a:rPr lang="en-CA" sz="1000" b="1" dirty="0"/>
              <a:t> Obi, Digvijay </a:t>
            </a:r>
            <a:r>
              <a:rPr lang="en-CA" sz="1000" b="1" dirty="0" err="1"/>
              <a:t>Kulshreshtha</a:t>
            </a:r>
            <a:r>
              <a:rPr lang="en-CA" sz="1000" b="1" dirty="0"/>
              <a:t>):</a:t>
            </a:r>
            <a:r>
              <a:rPr lang="en-CA" sz="1000" dirty="0"/>
              <a:t> Conduct research, analyze competitors, develop strategies, and create innovative solutions.</a:t>
            </a:r>
            <a:br>
              <a:rPr lang="en-CA" sz="1000" dirty="0"/>
            </a:br>
            <a:endParaRPr lang="en-CA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/>
              <a:t>Skills we have within the team</a:t>
            </a:r>
            <a:r>
              <a:rPr lang="en-CA" sz="1000" dirty="0"/>
              <a:t>: Market research, UX design, data analysis, creative problem-solving, communication.</a:t>
            </a:r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75D01B-9AFA-147A-4F14-3742ECC13798}"/>
              </a:ext>
            </a:extLst>
          </p:cNvPr>
          <p:cNvSpPr txBox="1"/>
          <p:nvPr/>
        </p:nvSpPr>
        <p:spPr>
          <a:xfrm>
            <a:off x="512203" y="5010420"/>
            <a:ext cx="42496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00" dirty="0"/>
              <a:t>We value collaboration, accountability, and innovation in our work. Each team member is responsible for their tasks while supporting others to achieve our shared goals. We prioritize high-quality, well-researched solutions and ensure transparency in communication. Respect, open-mindedness, and constructive feedback drive our teamwork, allowing us to improve and deliver the best possible outcomes for BCLC continuously.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F01BC7C0-30C3-EBF5-42C7-CBB0D21A1F21}"/>
              </a:ext>
            </a:extLst>
          </p:cNvPr>
          <p:cNvSpPr/>
          <p:nvPr/>
        </p:nvSpPr>
        <p:spPr>
          <a:xfrm>
            <a:off x="10770482" y="481650"/>
            <a:ext cx="861082" cy="642551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EA12A7-3886-DF84-7733-19A117DC21C0}"/>
              </a:ext>
            </a:extLst>
          </p:cNvPr>
          <p:cNvSpPr/>
          <p:nvPr/>
        </p:nvSpPr>
        <p:spPr>
          <a:xfrm>
            <a:off x="4293080" y="2139479"/>
            <a:ext cx="3441290" cy="362823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AAA01-946C-DB69-72EA-1770924106AC}"/>
              </a:ext>
            </a:extLst>
          </p:cNvPr>
          <p:cNvSpPr txBox="1"/>
          <p:nvPr/>
        </p:nvSpPr>
        <p:spPr>
          <a:xfrm>
            <a:off x="4871972" y="2556460"/>
            <a:ext cx="228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PURPOSE/ MISSION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EF2A7D-97EC-24A7-521D-017A52CE9976}"/>
              </a:ext>
            </a:extLst>
          </p:cNvPr>
          <p:cNvSpPr txBox="1"/>
          <p:nvPr/>
        </p:nvSpPr>
        <p:spPr>
          <a:xfrm>
            <a:off x="4761843" y="2885835"/>
            <a:ext cx="2792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Why are we doing what we are doing?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3C8747-F318-806D-2089-29F54EDC3691}"/>
              </a:ext>
            </a:extLst>
          </p:cNvPr>
          <p:cNvSpPr txBox="1"/>
          <p:nvPr/>
        </p:nvSpPr>
        <p:spPr>
          <a:xfrm>
            <a:off x="4589419" y="3394840"/>
            <a:ext cx="292306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000" b="1" dirty="0"/>
              <a:t>Our mission is to help BCLC enhance its sportsbook to gain a competitive edge against grey market competitors. Our goal is to </a:t>
            </a:r>
            <a:r>
              <a:rPr lang="en-MY" sz="1000" b="1" dirty="0" err="1"/>
              <a:t>analyze</a:t>
            </a:r>
            <a:r>
              <a:rPr lang="en-MY" sz="1000" b="1" dirty="0"/>
              <a:t> the market and provide strategic recommendations that support BCLC’s market share and revenue growth objectives.</a:t>
            </a:r>
            <a:br>
              <a:rPr lang="en-MY" sz="1000" b="1" dirty="0"/>
            </a:br>
            <a:endParaRPr lang="en-MY" sz="1000" b="1" dirty="0"/>
          </a:p>
          <a:p>
            <a:pPr algn="ctr"/>
            <a:r>
              <a:rPr lang="en-MY" sz="1000" b="1" dirty="0"/>
              <a:t>The big picture is to deliver insights, competitive analysis, and actionable strategies to BCLC, enabling them to strengthen their position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2465581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B343C2BBFB83478F559BEB0407E362" ma:contentTypeVersion="9" ma:contentTypeDescription="Create a new document." ma:contentTypeScope="" ma:versionID="e8d6e996f736c95851e8f976c458917b">
  <xsd:schema xmlns:xsd="http://www.w3.org/2001/XMLSchema" xmlns:xs="http://www.w3.org/2001/XMLSchema" xmlns:p="http://schemas.microsoft.com/office/2006/metadata/properties" xmlns:ns2="7a2cd5fa-7970-4102-af1e-6cb8072b3283" targetNamespace="http://schemas.microsoft.com/office/2006/metadata/properties" ma:root="true" ma:fieldsID="d123f77ea911449b681712c51c7aa88f" ns2:_="">
    <xsd:import namespace="7a2cd5fa-7970-4102-af1e-6cb8072b32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cd5fa-7970-4102-af1e-6cb8072b32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9dd023b0-06f2-48ac-bdf3-902a2de659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cd5fa-7970-4102-af1e-6cb8072b328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51C551-4D17-46E1-89A3-89315B66A459}"/>
</file>

<file path=customXml/itemProps2.xml><?xml version="1.0" encoding="utf-8"?>
<ds:datastoreItem xmlns:ds="http://schemas.openxmlformats.org/officeDocument/2006/customXml" ds:itemID="{976D2037-0A0C-48D5-B123-F2F75AFD02C7}"/>
</file>

<file path=customXml/itemProps3.xml><?xml version="1.0" encoding="utf-8"?>
<ds:datastoreItem xmlns:ds="http://schemas.openxmlformats.org/officeDocument/2006/customXml" ds:itemID="{3F4406CE-8361-43F9-B3EB-53DC5F5B6135}"/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543</Words>
  <Application>Microsoft Macintosh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Trong Tin Nguyen</dc:creator>
  <cp:lastModifiedBy>R Rajaintheran</cp:lastModifiedBy>
  <cp:revision>25</cp:revision>
  <dcterms:created xsi:type="dcterms:W3CDTF">2025-03-13T21:42:49Z</dcterms:created>
  <dcterms:modified xsi:type="dcterms:W3CDTF">2025-03-14T20:10:50Z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0x0101002DB343C2BBFB83478F559BEB0407E362</vt:lpwstr>
  </property>
  <property fmtid="{D5CDD505-2E9C-101B-9397-08002B2CF9AE}" pid="3" name="Order">
    <vt:r8>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